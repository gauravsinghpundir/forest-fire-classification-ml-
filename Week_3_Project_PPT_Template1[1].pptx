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68" r:id="rId5"/>
    <p:sldId id="259" r:id="rId6"/>
    <p:sldId id="264" r:id="rId7"/>
    <p:sldId id="260" r:id="rId8"/>
    <p:sldId id="271" r:id="rId9"/>
    <p:sldId id="272" r:id="rId10"/>
    <p:sldId id="273" r:id="rId11"/>
    <p:sldId id="263" r:id="rId12"/>
    <p:sldId id="265" r:id="rId13"/>
    <p:sldId id="266" r:id="rId14"/>
    <p:sldId id="267" r:id="rId15"/>
    <p:sldId id="274" r:id="rId16"/>
    <p:sldId id="277" r:id="rId17"/>
    <p:sldId id="269" r:id="rId18"/>
    <p:sldId id="270" r:id="rId19"/>
    <p:sldId id="26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142A7-6AF3-4656-8303-BBA30A720A57}" v="177" dt="2025-08-02T19:06:58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2" autoAdjust="0"/>
    <p:restoredTop sz="94660"/>
  </p:normalViewPr>
  <p:slideViewPr>
    <p:cSldViewPr snapToGrid="0">
      <p:cViewPr varScale="1">
        <p:scale>
          <a:sx n="92" d="100"/>
          <a:sy n="92" d="100"/>
        </p:scale>
        <p:origin x="57" y="111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auravSinghPundir/Forest-Fire-Classification-ML-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5195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361951" y="2409556"/>
            <a:ext cx="11242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DEFFORESTATION DETECTION </a:t>
            </a:r>
            <a:endParaRPr lang="en-US" sz="3600" b="1" dirty="0">
              <a:solidFill>
                <a:schemeClr val="bg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[Fire Classification]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D3530AF-9771-470E-A9BF-F28AA22753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19" y="868863"/>
            <a:ext cx="1263157" cy="4108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6C6221-DB5B-4C03-1286-BC2444DC4726}"/>
              </a:ext>
            </a:extLst>
          </p:cNvPr>
          <p:cNvSpPr txBox="1"/>
          <p:nvPr/>
        </p:nvSpPr>
        <p:spPr>
          <a:xfrm>
            <a:off x="4305300" y="4153668"/>
            <a:ext cx="7543800" cy="1241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bg1"/>
                </a:solidFill>
              </a:rPr>
              <a:t>Gaurav Singh Pundir</a:t>
            </a:r>
          </a:p>
          <a:p>
            <a:r>
              <a:rPr lang="en-IN" i="1" dirty="0">
                <a:solidFill>
                  <a:schemeClr val="bg1"/>
                </a:solidFill>
              </a:rPr>
              <a:t>AICTE ID:-STU684838525aff41749563474</a:t>
            </a:r>
          </a:p>
          <a:p>
            <a:r>
              <a:rPr lang="en-IN" i="1" dirty="0">
                <a:solidFill>
                  <a:schemeClr val="bg1"/>
                </a:solidFill>
              </a:rPr>
              <a:t>AICTE INTERNSHIP ID:  </a:t>
            </a:r>
            <a:r>
              <a:rPr lang="en-IN" dirty="0">
                <a:solidFill>
                  <a:schemeClr val="bg1"/>
                </a:solidFill>
              </a:rPr>
              <a:t>INTERNSHIP_175040797468551b2636342</a:t>
            </a:r>
          </a:p>
          <a:p>
            <a:endParaRPr lang="en-IN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A7C92C1-C72F-BD82-08D2-26B912EF9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86" y="1780409"/>
            <a:ext cx="7667484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MODIS datasets from multiple years (2021–2023).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Machine Learning techniques for classifying fire occurrences.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perform data preprocessing, feature selection, and model building.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compare classification models and evaluate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propose an effective solution for fire detection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28DEB-5266-A249-2961-84E474A85813}"/>
              </a:ext>
            </a:extLst>
          </p:cNvPr>
          <p:cNvSpPr txBox="1"/>
          <p:nvPr/>
        </p:nvSpPr>
        <p:spPr>
          <a:xfrm>
            <a:off x="336302" y="1643285"/>
            <a:ext cx="11380439" cy="1672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# Programming Language</a:t>
            </a:r>
            <a:r>
              <a:rPr lang="en-IN" dirty="0"/>
              <a:t>:  </a:t>
            </a:r>
          </a:p>
          <a:p>
            <a:pPr marL="342900" lvl="4" indent="-342900">
              <a:buFont typeface="Wingdings" panose="05000000000000000000" pitchFamily="2" charset="2"/>
              <a:buChar char="q"/>
            </a:pPr>
            <a:r>
              <a:rPr lang="en-US" b="1" dirty="0"/>
              <a:t>Python: </a:t>
            </a:r>
            <a:r>
              <a:rPr lang="en-US" dirty="0"/>
              <a:t>Core language for data processing, model training, and </a:t>
            </a:r>
            <a:r>
              <a:rPr lang="en-US" dirty="0" err="1"/>
              <a:t>Streamlit</a:t>
            </a:r>
            <a:r>
              <a:rPr lang="en-US" dirty="0"/>
              <a:t> UI development.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6F887-AC06-7CE1-26B7-5F840F64FB9A}"/>
              </a:ext>
            </a:extLst>
          </p:cNvPr>
          <p:cNvSpPr txBox="1"/>
          <p:nvPr/>
        </p:nvSpPr>
        <p:spPr>
          <a:xfrm>
            <a:off x="377866" y="4717759"/>
            <a:ext cx="9100457" cy="305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# ML Techniques</a:t>
            </a:r>
            <a:r>
              <a:rPr lang="en-US" dirty="0"/>
              <a:t>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Logistic Regression, Decision Tree, Random Forest, K-</a:t>
            </a:r>
            <a:r>
              <a:rPr lang="en-IN" dirty="0" err="1"/>
              <a:t>Neighbors</a:t>
            </a:r>
            <a:r>
              <a:rPr lang="en-IN" dirty="0"/>
              <a:t> Classifier, Neural Network.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SMOTE: Oversampling to address class imbalance.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 err="1"/>
              <a:t>StandardScaler</a:t>
            </a:r>
            <a:r>
              <a:rPr lang="en-IN" dirty="0"/>
              <a:t>: Feature scaling for model optimization.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1CA469-31A4-1E60-1A45-6CB63008B2BF}"/>
              </a:ext>
            </a:extLst>
          </p:cNvPr>
          <p:cNvSpPr txBox="1"/>
          <p:nvPr/>
        </p:nvSpPr>
        <p:spPr>
          <a:xfrm>
            <a:off x="336302" y="2600331"/>
            <a:ext cx="11953010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# Libraries</a:t>
            </a:r>
            <a:r>
              <a:rPr lang="en-IN" dirty="0"/>
              <a:t>: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8D6C33D0-16D9-6871-2889-81BF9963F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15" y="2628912"/>
            <a:ext cx="6474849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Pandas, NumPy: Data manipulation and analysis.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Scikit-learn: Machine learning models and preprocessing.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TensorFlow: Neural network implementation.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Gradient boosting for classification.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Imbalanced-learn: SMOTE for handling class imbalance.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Interactive web-based UI for model deployment. 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A2FC33C-6CA7-A4A8-4B0C-76C1A9035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82" y="2057391"/>
            <a:ext cx="1089025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# Environment</a:t>
            </a:r>
            <a:r>
              <a:rPr lang="en-IN" sz="1800" dirty="0"/>
              <a:t>: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Cloud-based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for model development and training. </a:t>
            </a:r>
          </a:p>
          <a:p>
            <a:pPr marL="2857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Cloud: Deployment platform for the web-based UI.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800" b="1" dirty="0"/>
              <a:t># Visualization</a:t>
            </a:r>
            <a:r>
              <a:rPr lang="en-IN" sz="1800" dirty="0"/>
              <a:t>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Matplotlib, Seaborn: Count plots, histograms, scatter plots, and correlation heatmaps.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Real-time interactive visualizations in the UI. </a:t>
            </a:r>
            <a:endParaRPr lang="en-IN" sz="1800" dirty="0"/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IN" sz="1800" dirty="0"/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C0317-ABCC-187D-670B-1EC3EA6BCE81}"/>
              </a:ext>
            </a:extLst>
          </p:cNvPr>
          <p:cNvSpPr txBox="1"/>
          <p:nvPr/>
        </p:nvSpPr>
        <p:spPr>
          <a:xfrm>
            <a:off x="266268" y="1072633"/>
            <a:ext cx="610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13163"/>
                </a:solidFill>
              </a:rPr>
              <a:t>T</a:t>
            </a:r>
            <a:r>
              <a:rPr lang="en-IN" sz="1800" b="1" dirty="0" err="1">
                <a:solidFill>
                  <a:srgbClr val="213163"/>
                </a:solidFill>
              </a:rPr>
              <a:t>ools</a:t>
            </a:r>
            <a:r>
              <a:rPr lang="en-IN" sz="1800" b="1" dirty="0">
                <a:solidFill>
                  <a:srgbClr val="213163"/>
                </a:solidFill>
              </a:rPr>
              <a:t> and Technology used </a:t>
            </a:r>
          </a:p>
        </p:txBody>
      </p:sp>
    </p:spTree>
    <p:extLst>
      <p:ext uri="{BB962C8B-B14F-4D97-AF65-F5344CB8AC3E}">
        <p14:creationId xmlns:p14="http://schemas.microsoft.com/office/powerpoint/2010/main" val="1831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56E96-952C-3074-F319-A28E08A1CB69}"/>
              </a:ext>
            </a:extLst>
          </p:cNvPr>
          <p:cNvSpPr txBox="1"/>
          <p:nvPr/>
        </p:nvSpPr>
        <p:spPr>
          <a:xfrm>
            <a:off x="885371" y="6350000"/>
            <a:ext cx="8599714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E442E8-6D0F-D3E0-E8F0-7DE1099AE9C5}"/>
              </a:ext>
            </a:extLst>
          </p:cNvPr>
          <p:cNvSpPr txBox="1"/>
          <p:nvPr/>
        </p:nvSpPr>
        <p:spPr>
          <a:xfrm>
            <a:off x="515256" y="1496212"/>
            <a:ext cx="9529535" cy="1851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# Data Collection</a:t>
            </a:r>
            <a:r>
              <a:rPr lang="en-US" dirty="0"/>
              <a:t>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Sourced from MODIS dataset (2021–2023) for forest fires in India.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Features include latitude, longitude, brightness, confidence, and fire type.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Data stored in CSV format for processing.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D625FC-E073-E0A1-37F7-84347EA2D57F}"/>
              </a:ext>
            </a:extLst>
          </p:cNvPr>
          <p:cNvSpPr txBox="1"/>
          <p:nvPr/>
        </p:nvSpPr>
        <p:spPr>
          <a:xfrm>
            <a:off x="515256" y="3429000"/>
            <a:ext cx="11816443" cy="1764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# Data Preprocessing</a:t>
            </a:r>
            <a:r>
              <a:rPr lang="en-US" dirty="0"/>
              <a:t>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Handled missing values and outliers in the dataset.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Applied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StandardScaler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for feature scaling to normalize data.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Used SMOTE (Synthetic Minority Oversampling Technique) to address class imbalance in fire type classification.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54AA6D-C980-1D4B-1763-50CDBD43EBE8}"/>
              </a:ext>
            </a:extLst>
          </p:cNvPr>
          <p:cNvSpPr txBox="1"/>
          <p:nvPr/>
        </p:nvSpPr>
        <p:spPr>
          <a:xfrm>
            <a:off x="515256" y="5193650"/>
            <a:ext cx="12553043" cy="1887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# Exploratory Data Analysis (EDA)</a:t>
            </a:r>
            <a:r>
              <a:rPr lang="en-US" dirty="0"/>
              <a:t>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Analyzed feature distributions using histograms and count plots.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Visualized spatial patterns with scatter plots of latitude and longitude.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Generated correlation heatmap to identify relationships between features.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03707-D9B4-9496-CCDB-474C5438F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E9E1AC-81F5-DE92-A8DA-EEE9653EE0DE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B1A179-C982-81A9-C8F8-5B5B7FE783A8}"/>
              </a:ext>
            </a:extLst>
          </p:cNvPr>
          <p:cNvSpPr txBox="1"/>
          <p:nvPr/>
        </p:nvSpPr>
        <p:spPr>
          <a:xfrm>
            <a:off x="885371" y="6350000"/>
            <a:ext cx="8599714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DB25B-AD5E-EB76-FC8E-5BDA8812DFCE}"/>
              </a:ext>
            </a:extLst>
          </p:cNvPr>
          <p:cNvSpPr txBox="1"/>
          <p:nvPr/>
        </p:nvSpPr>
        <p:spPr>
          <a:xfrm>
            <a:off x="497115" y="1745569"/>
            <a:ext cx="11694885" cy="234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# Model Building</a:t>
            </a:r>
            <a:r>
              <a:rPr lang="en-IN" dirty="0"/>
              <a:t>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Implemented multiple models: Logistic Regression, Decision Tree, Random Forest, K-Neighbors Classifier, and Neural Network (using TensorFlow).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Utilized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XGBoost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for gradient boosting-based classification.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Split data into training and testing sets for model training. 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9E5C1-0B73-8539-8A03-AEFE250296CC}"/>
              </a:ext>
            </a:extLst>
          </p:cNvPr>
          <p:cNvSpPr txBox="1"/>
          <p:nvPr/>
        </p:nvSpPr>
        <p:spPr>
          <a:xfrm>
            <a:off x="497115" y="4309609"/>
            <a:ext cx="11618685" cy="2286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# Model Evaluation</a:t>
            </a:r>
            <a:r>
              <a:rPr lang="en-US" dirty="0"/>
              <a:t>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Evaluated models using accuracy, precision, recall, and F1-score.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Random Forest achieved highest accuracy (0.9695).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Visualized model performance with confusion matrices and classification reports.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F82F3C-F5A5-E7ED-9191-F26B6630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469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2F9AC-6195-764F-5E31-491C0562FD16}"/>
              </a:ext>
            </a:extLst>
          </p:cNvPr>
          <p:cNvSpPr txBox="1"/>
          <p:nvPr/>
        </p:nvSpPr>
        <p:spPr>
          <a:xfrm>
            <a:off x="727363" y="1967243"/>
            <a:ext cx="10489623" cy="133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Fires, whether in forests, grasslands, or human settlements, pose serious threats to life, property, and the environment.</a:t>
            </a:r>
            <a:br>
              <a:rPr lang="en-US" dirty="0"/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361253-050A-919B-0A24-95060886EDBF}"/>
              </a:ext>
            </a:extLst>
          </p:cNvPr>
          <p:cNvSpPr txBox="1"/>
          <p:nvPr/>
        </p:nvSpPr>
        <p:spPr>
          <a:xfrm>
            <a:off x="816984" y="3081448"/>
            <a:ext cx="9579119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They can spread rapidly, causing loss of biodiversity, economic damage, and severe air pollution.</a:t>
            </a:r>
            <a:br>
              <a:rPr lang="en-US" dirty="0"/>
            </a:b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D58D71-4D7E-3E83-8D22-1E42DBEBBD4F}"/>
              </a:ext>
            </a:extLst>
          </p:cNvPr>
          <p:cNvSpPr txBox="1"/>
          <p:nvPr/>
        </p:nvSpPr>
        <p:spPr>
          <a:xfrm>
            <a:off x="816984" y="3812124"/>
            <a:ext cx="9786939" cy="219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Traditional fire monitoring methods are often slow and resource-intensive.</a:t>
            </a:r>
            <a:br>
              <a:rPr lang="en-US" dirty="0"/>
            </a:br>
            <a:r>
              <a:rPr lang="en-US" dirty="0"/>
              <a:t>With </a:t>
            </a:r>
            <a:r>
              <a:rPr lang="en-US" b="1" dirty="0"/>
              <a:t>MODIS satellite data</a:t>
            </a:r>
            <a:r>
              <a:rPr lang="en-US" dirty="0"/>
              <a:t>, it is possible to build a </a:t>
            </a:r>
            <a:r>
              <a:rPr lang="en-US" b="1" dirty="0"/>
              <a:t>machine learning-based fire classification system</a:t>
            </a:r>
            <a:r>
              <a:rPr lang="en-US" dirty="0"/>
              <a:t> that can process large-scale, multi-year data, handle class imbalance, and accurately detect and classify fire occurrences to enable quicker emergency response and hazard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92711-2A07-5D0E-F903-AEE9E9EC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D30321-FCEA-719F-9EC1-88AAFF10EB81}"/>
              </a:ext>
            </a:extLst>
          </p:cNvPr>
          <p:cNvSpPr txBox="1"/>
          <p:nvPr/>
        </p:nvSpPr>
        <p:spPr>
          <a:xfrm>
            <a:off x="198893" y="100563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D649366-65CF-29C1-6516-F3EB50CD0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classification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forest fire occurrences.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C42DA-75B5-F1FE-C44F-F5583C03B11B}"/>
              </a:ext>
            </a:extLst>
          </p:cNvPr>
          <p:cNvSpPr txBox="1"/>
          <p:nvPr/>
        </p:nvSpPr>
        <p:spPr>
          <a:xfrm>
            <a:off x="347690" y="1546107"/>
            <a:ext cx="11221934" cy="133216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# Satellite Data Source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Data was collected from </a:t>
            </a:r>
            <a:r>
              <a:rPr lang="en-US" b="1" dirty="0"/>
              <a:t>MODIS (Moderate Resolution Imaging Spectroradiometer)</a:t>
            </a:r>
            <a:r>
              <a:rPr lang="en-US" dirty="0"/>
              <a:t> on </a:t>
            </a:r>
            <a:r>
              <a:rPr lang="en-US" b="1" dirty="0"/>
              <a:t>Terra</a:t>
            </a:r>
            <a:r>
              <a:rPr lang="en-US" dirty="0"/>
              <a:t> and          `    </a:t>
            </a:r>
            <a:r>
              <a:rPr lang="en-US" b="1" dirty="0"/>
              <a:t>Aqua</a:t>
            </a:r>
            <a:r>
              <a:rPr lang="en-US" dirty="0"/>
              <a:t> satellites for </a:t>
            </a:r>
            <a:r>
              <a:rPr lang="en-US" b="1" dirty="0"/>
              <a:t>India</a:t>
            </a:r>
            <a:r>
              <a:rPr lang="en-US" dirty="0"/>
              <a:t>, covering </a:t>
            </a:r>
            <a:r>
              <a:rPr lang="en-US" b="1" dirty="0"/>
              <a:t>2021, 2022, and 2023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5C48A88-349B-FCAB-B715-5231ACCE8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90" y="3063998"/>
            <a:ext cx="10799003" cy="3226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Dataset Details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Total records after merging: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271,217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rows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No missing or duplicate values.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Target variable( type ) 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imbalance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Class 0: 257,625 samples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Class 2: 13,550 samples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Class 3: 42 samples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44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EAAB-DCE2-B7D2-4AA5-71CF8E8C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3AD22E-906F-C8AE-6653-BE20AC03A3C1}"/>
              </a:ext>
            </a:extLst>
          </p:cNvPr>
          <p:cNvSpPr txBox="1"/>
          <p:nvPr/>
        </p:nvSpPr>
        <p:spPr>
          <a:xfrm>
            <a:off x="183307" y="96878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E9CC826-3063-E60A-10E7-01EFD59D7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classification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forest fire occurrences.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B1357-763E-A555-AE8A-F692604D2F22}"/>
              </a:ext>
            </a:extLst>
          </p:cNvPr>
          <p:cNvSpPr txBox="1"/>
          <p:nvPr/>
        </p:nvSpPr>
        <p:spPr>
          <a:xfrm>
            <a:off x="528379" y="1428903"/>
            <a:ext cx="9405329" cy="1763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# Handling Class Imbalance</a:t>
            </a:r>
            <a:r>
              <a:rPr lang="en-US" dirty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Applied </a:t>
            </a:r>
            <a:r>
              <a:rPr lang="en-US" b="1" dirty="0"/>
              <a:t>SMOTE (Synthetic Minority Oversampling Technique)</a:t>
            </a:r>
            <a:r>
              <a:rPr lang="en-US" dirty="0"/>
              <a:t> to create a balanced dataset across classes.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Post-SMOTE distribution: Class 0, 2, and 3 each had </a:t>
            </a:r>
            <a:r>
              <a:rPr lang="en-US" b="1" dirty="0"/>
              <a:t>257,625 samples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491D7-3650-859E-0456-ABF50D7EA6A4}"/>
              </a:ext>
            </a:extLst>
          </p:cNvPr>
          <p:cNvSpPr txBox="1"/>
          <p:nvPr/>
        </p:nvSpPr>
        <p:spPr>
          <a:xfrm>
            <a:off x="528379" y="3312102"/>
            <a:ext cx="9732643" cy="1763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# Model Selection</a:t>
            </a:r>
            <a:r>
              <a:rPr lang="en-US" dirty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Trained multiple algorithms: Logistic Regression, Decision Tree, Random Forest, KNN, and Neural Network.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Random Forest Classifier</a:t>
            </a:r>
            <a:r>
              <a:rPr lang="en-US" dirty="0"/>
              <a:t> was chosen as the final model due to highest accuracy.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5C17E-28AB-BA57-9348-1321AD0D6B2F}"/>
              </a:ext>
            </a:extLst>
          </p:cNvPr>
          <p:cNvSpPr txBox="1"/>
          <p:nvPr/>
        </p:nvSpPr>
        <p:spPr>
          <a:xfrm>
            <a:off x="556953" y="5195301"/>
            <a:ext cx="9675494" cy="1763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# Random Forest Performance</a:t>
            </a:r>
            <a:r>
              <a:rPr lang="en-US" dirty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Accuracy Score</a:t>
            </a:r>
            <a:r>
              <a:rPr lang="en-US" dirty="0"/>
              <a:t>: </a:t>
            </a:r>
            <a:r>
              <a:rPr lang="en-US" b="1" dirty="0"/>
              <a:t>96.95%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Precision, recall, and F1-score for all classes were above </a:t>
            </a:r>
            <a:r>
              <a:rPr lang="en-US" b="1" dirty="0"/>
              <a:t>0.95</a:t>
            </a:r>
            <a:r>
              <a:rPr lang="en-US" dirty="0"/>
              <a:t>, with perfect performance for Class 3.</a:t>
            </a:r>
          </a:p>
        </p:txBody>
      </p:sp>
    </p:spTree>
    <p:extLst>
      <p:ext uri="{BB962C8B-B14F-4D97-AF65-F5344CB8AC3E}">
        <p14:creationId xmlns:p14="http://schemas.microsoft.com/office/powerpoint/2010/main" val="364684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6B65-F8F2-3EB7-FD3E-BA7F1F63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669991-3BB4-80D5-07DB-5F776909C682}"/>
              </a:ext>
            </a:extLst>
          </p:cNvPr>
          <p:cNvSpPr txBox="1"/>
          <p:nvPr/>
        </p:nvSpPr>
        <p:spPr>
          <a:xfrm>
            <a:off x="264599" y="1038487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72A2553-9492-FE6A-4936-DF1EFF56C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classification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forest fire occurrences.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7CCBED5-C1BD-9C77-746A-65F701573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30" y="1547412"/>
            <a:ext cx="975840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trained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best_fire_detection_model.pkl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scaler.pkl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consistent preprocessing during prediction.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deployed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app for real-time fire classification.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Possible integration with live MODIS satellite API for instant detection alerts.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GitHub Link:   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https://github.com/GauravSinghPundir/Forest-Fire-Classification-ML-/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641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A4073-C091-CACC-8277-E7F2F284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8" y="1680960"/>
            <a:ext cx="12062003" cy="452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F819-0473-407D-856E-4CC84086F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EC907-0275-AF2D-EA69-CFB8BC945A2B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E84BBA-89FD-C5B7-D956-8C6B5AED6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4" y="1988458"/>
            <a:ext cx="11669012" cy="359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124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BDFC-5412-2DC2-8152-9DF1C1AA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1991E0-F76B-46D5-966C-3B18BB783C02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39D82-BF84-7A4A-D787-FDB500B05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0" y="1632857"/>
            <a:ext cx="11923487" cy="506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86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AAA8-D5AB-41E8-37C3-981C5C69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371E07-7040-B4A4-E771-335B6C84E9AB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B97938-64A6-668C-3919-0BEEBEABC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4" y="1604389"/>
            <a:ext cx="11711925" cy="14481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437913-50EF-FB9C-E9FA-4521F7D07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56" y="3202372"/>
            <a:ext cx="11524343" cy="359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2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540FA-35E2-461C-DC1F-91A34BA7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043F52-EDEC-4D2B-F60B-B9E13D7752F7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CA74-71B8-ECC1-EA9F-53BEC14BA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44" y="1683121"/>
            <a:ext cx="11926455" cy="434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403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D001-E0AB-2FE2-7A2E-92BCBD1E4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05BDEB-619F-E70F-4FEF-B0402303B2F4}"/>
              </a:ext>
            </a:extLst>
          </p:cNvPr>
          <p:cNvSpPr txBox="1"/>
          <p:nvPr/>
        </p:nvSpPr>
        <p:spPr>
          <a:xfrm>
            <a:off x="255104" y="1054412"/>
            <a:ext cx="10362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                    IMPROVIZATIONS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C3BF26-58B6-222E-3196-DC6938EFD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" y="1523999"/>
            <a:ext cx="11515408" cy="161925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41A88F-B0E5-E36A-536E-C2978EA7C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42" y="3435347"/>
            <a:ext cx="5702764" cy="331192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448729-3043-A0F1-25F9-55BD41B74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52" y="3392911"/>
            <a:ext cx="5702764" cy="33480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46993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08F80C-E348-0A31-D114-3A4FBDB5ABFC}"/>
              </a:ext>
            </a:extLst>
          </p:cNvPr>
          <p:cNvSpPr txBox="1"/>
          <p:nvPr/>
        </p:nvSpPr>
        <p:spPr>
          <a:xfrm>
            <a:off x="120649" y="690991"/>
            <a:ext cx="12071351" cy="6167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Improvizations</a:t>
            </a:r>
            <a:r>
              <a:rPr lang="en-US" sz="2000" b="1" dirty="0"/>
              <a:t> Done :</a:t>
            </a:r>
          </a:p>
          <a:p>
            <a:endParaRPr lang="en-US" sz="2000" dirty="0"/>
          </a:p>
          <a:p>
            <a:r>
              <a:rPr lang="en-US" b="1" dirty="0"/>
              <a:t>Neural Network Implementation with </a:t>
            </a:r>
            <a:r>
              <a:rPr lang="en-US" b="1" dirty="0" err="1"/>
              <a:t>PyTorch</a:t>
            </a:r>
            <a:r>
              <a:rPr lang="en-US" dirty="0"/>
              <a:t> 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Adapted the neural network model from TensorFlow (as in the original </a:t>
            </a:r>
            <a:r>
              <a:rPr lang="en-US" dirty="0" err="1"/>
              <a:t>Colab</a:t>
            </a:r>
            <a:r>
              <a:rPr lang="en-US" dirty="0"/>
              <a:t> notebook) to </a:t>
            </a:r>
            <a:r>
              <a:rPr lang="en-US" dirty="0" err="1"/>
              <a:t>PyTorch</a:t>
            </a:r>
            <a:r>
              <a:rPr lang="en-US" dirty="0"/>
              <a:t> for enhanced flexibility and dynamic computation graph support.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Designed and trained a custom neural network architecture for forest fire classification, leveraging </a:t>
            </a:r>
            <a:r>
              <a:rPr lang="en-US" dirty="0" err="1"/>
              <a:t>PyTorch’s</a:t>
            </a:r>
            <a:r>
              <a:rPr lang="en-US" dirty="0"/>
              <a:t> </a:t>
            </a:r>
            <a:r>
              <a:rPr lang="en-US" dirty="0" err="1"/>
              <a:t>autograd</a:t>
            </a:r>
            <a:r>
              <a:rPr lang="en-US" dirty="0"/>
              <a:t> for efficient backpropagation.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Optimized model training with </a:t>
            </a:r>
            <a:r>
              <a:rPr lang="en-US" dirty="0" err="1"/>
              <a:t>PyTorch’s</a:t>
            </a:r>
            <a:r>
              <a:rPr lang="en-US" dirty="0"/>
              <a:t> </a:t>
            </a:r>
            <a:r>
              <a:rPr lang="en-US" dirty="0" err="1"/>
              <a:t>DataLoader</a:t>
            </a:r>
            <a:r>
              <a:rPr lang="en-US" dirty="0"/>
              <a:t> for batch processing and utilized GPU acceleration (if available in </a:t>
            </a:r>
            <a:r>
              <a:rPr lang="en-US" dirty="0" err="1"/>
              <a:t>Colab</a:t>
            </a:r>
            <a:r>
              <a:rPr lang="en-US" dirty="0"/>
              <a:t>) to improve performance.</a:t>
            </a:r>
          </a:p>
          <a:p>
            <a:pPr lvl="1"/>
            <a:endParaRPr lang="en-US" dirty="0"/>
          </a:p>
          <a:p>
            <a:r>
              <a:rPr lang="en-US" b="1" dirty="0"/>
              <a:t>Enhanced </a:t>
            </a:r>
            <a:r>
              <a:rPr lang="en-US" b="1" dirty="0" err="1"/>
              <a:t>Streamlit</a:t>
            </a:r>
            <a:r>
              <a:rPr lang="en-US" b="1" dirty="0"/>
              <a:t> UI</a:t>
            </a:r>
            <a:r>
              <a:rPr lang="en-US" dirty="0"/>
              <a:t> 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Developed an interactive </a:t>
            </a:r>
            <a:r>
              <a:rPr lang="en-US" dirty="0" err="1"/>
              <a:t>Streamlit</a:t>
            </a:r>
            <a:r>
              <a:rPr lang="en-US" dirty="0"/>
              <a:t>-based web interface for real-time forest fire prediction using the trained models.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Included input fields for key features (e.g., latitude, longitude, brightness, confidence, fire type) to allow users to input data for predictions.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Integrated real-time visualization of prediction outputs, such as fire risk probabilities or classification results, using </a:t>
            </a:r>
            <a:r>
              <a:rPr lang="en-US" dirty="0" err="1"/>
              <a:t>Streamlit’s</a:t>
            </a:r>
            <a:r>
              <a:rPr lang="en-US" dirty="0"/>
              <a:t> plotting capabilities.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Added functionality to generate a downloadable report (e.g., DOC or PDF) summarizing input data, prediction results, and visualizations for user convenience.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Implemented user-friendly design elements, such as sliders, dropdowns, and buttons, to enhance interactivity and accessibility.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562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37CCD1-5DFB-C731-C8A1-9480C8EE0061}"/>
              </a:ext>
            </a:extLst>
          </p:cNvPr>
          <p:cNvSpPr txBox="1"/>
          <p:nvPr/>
        </p:nvSpPr>
        <p:spPr>
          <a:xfrm>
            <a:off x="685800" y="1508889"/>
            <a:ext cx="10953750" cy="210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b="1"/>
              <a:t># Additional </a:t>
            </a:r>
            <a:r>
              <a:rPr lang="en-US" b="1" dirty="0"/>
              <a:t>UI </a:t>
            </a:r>
            <a:r>
              <a:rPr lang="en-US" b="1"/>
              <a:t>Features</a:t>
            </a:r>
            <a:r>
              <a:rPr lang="en-US"/>
              <a:t> :</a:t>
            </a:r>
            <a:endParaRPr lang="en-US" dirty="0"/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Incorporated error handling in the UI to manage invalid inputs and provide clear feedback to users.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Enhanced the UI with dynamic updates, such as live feedback on model confidence scores and interactive maps for spatial data visualization.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Ensured cross-platform compatibility by deploying the </a:t>
            </a:r>
            <a:r>
              <a:rPr lang="en-US" dirty="0" err="1"/>
              <a:t>Streamlit</a:t>
            </a:r>
            <a:r>
              <a:rPr lang="en-US" dirty="0"/>
              <a:t> app on </a:t>
            </a:r>
            <a:r>
              <a:rPr lang="en-US" dirty="0" err="1"/>
              <a:t>Streamlit</a:t>
            </a:r>
            <a:r>
              <a:rPr lang="en-US" dirty="0"/>
              <a:t> Cloud, enabling seamless access via web browsers.</a:t>
            </a:r>
          </a:p>
        </p:txBody>
      </p:sp>
    </p:spTree>
    <p:extLst>
      <p:ext uri="{BB962C8B-B14F-4D97-AF65-F5344CB8AC3E}">
        <p14:creationId xmlns:p14="http://schemas.microsoft.com/office/powerpoint/2010/main" val="3025385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2E08F-8A7D-794D-1C9E-DE91523DAB5A}"/>
              </a:ext>
            </a:extLst>
          </p:cNvPr>
          <p:cNvSpPr txBox="1"/>
          <p:nvPr/>
        </p:nvSpPr>
        <p:spPr>
          <a:xfrm>
            <a:off x="1034141" y="3721170"/>
            <a:ext cx="953951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Successfully built and tested ML models for forest fire classification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DED5E-FE56-012B-BCA6-3286B8C1860E}"/>
              </a:ext>
            </a:extLst>
          </p:cNvPr>
          <p:cNvSpPr txBox="1"/>
          <p:nvPr/>
        </p:nvSpPr>
        <p:spPr>
          <a:xfrm>
            <a:off x="1034143" y="2864365"/>
            <a:ext cx="10330543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Random Forest and </a:t>
            </a:r>
            <a:r>
              <a:rPr lang="en-US" dirty="0" err="1"/>
              <a:t>XGBoost</a:t>
            </a:r>
            <a:r>
              <a:rPr lang="en-US" dirty="0"/>
              <a:t> provided higher accuracy compared to Logistic Regression and KNN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DD6AE-98C1-2525-029D-549354319976}"/>
              </a:ext>
            </a:extLst>
          </p:cNvPr>
          <p:cNvSpPr txBox="1"/>
          <p:nvPr/>
        </p:nvSpPr>
        <p:spPr>
          <a:xfrm>
            <a:off x="1034141" y="4290654"/>
            <a:ext cx="11157857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Machine Learning can be a </a:t>
            </a:r>
            <a:r>
              <a:rPr lang="en-US" b="1" dirty="0"/>
              <a:t>powerful tool for early fire detection</a:t>
            </a:r>
            <a:r>
              <a:rPr lang="en-US" dirty="0"/>
              <a:t>, helping in disaster management.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DBE2A7-F57C-C739-EFC6-2BF4F64B79D6}"/>
              </a:ext>
            </a:extLst>
          </p:cNvPr>
          <p:cNvSpPr txBox="1"/>
          <p:nvPr/>
        </p:nvSpPr>
        <p:spPr>
          <a:xfrm>
            <a:off x="1034141" y="4860138"/>
            <a:ext cx="1044665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The approach can be extended with more datasets and real-time data for better prediction.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6045F4-F0D6-82A1-FC17-204B3627A083}"/>
              </a:ext>
            </a:extLst>
          </p:cNvPr>
          <p:cNvSpPr txBox="1"/>
          <p:nvPr/>
        </p:nvSpPr>
        <p:spPr>
          <a:xfrm>
            <a:off x="1034142" y="5441931"/>
            <a:ext cx="1033054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Integrate </a:t>
            </a:r>
            <a:r>
              <a:rPr lang="en-US" b="1" dirty="0"/>
              <a:t>real-time satellite data</a:t>
            </a:r>
            <a:r>
              <a:rPr lang="en-US" dirty="0"/>
              <a:t> to enable instant fire detection and alert systems.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563684-0C30-640D-A930-C0F2631BE027}"/>
              </a:ext>
            </a:extLst>
          </p:cNvPr>
          <p:cNvSpPr txBox="1"/>
          <p:nvPr/>
        </p:nvSpPr>
        <p:spPr>
          <a:xfrm>
            <a:off x="1034141" y="5976567"/>
            <a:ext cx="10671629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Enhance model accuracy by incorporating </a:t>
            </a:r>
            <a:r>
              <a:rPr lang="en-US" b="1" dirty="0"/>
              <a:t>weather, vegetation, and topographical data</a:t>
            </a:r>
            <a:r>
              <a:rPr lang="en-US" dirty="0"/>
              <a:t> for better prediction.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2082A4-03F6-D65C-9B9C-FF591F6FD097}"/>
              </a:ext>
            </a:extLst>
          </p:cNvPr>
          <p:cNvSpPr txBox="1"/>
          <p:nvPr/>
        </p:nvSpPr>
        <p:spPr>
          <a:xfrm>
            <a:off x="1034143" y="1496268"/>
            <a:ext cx="10591800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Collected and combined MODIS fire datasets (2021–2023) for India and performed thorough preprocessing.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7EB1D1-677B-77A2-4D12-370CA4C483DC}"/>
              </a:ext>
            </a:extLst>
          </p:cNvPr>
          <p:cNvSpPr txBox="1"/>
          <p:nvPr/>
        </p:nvSpPr>
        <p:spPr>
          <a:xfrm>
            <a:off x="1034143" y="2271252"/>
            <a:ext cx="1082402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Conducted exploratory data analysis to understand patterns and relationships in fire occurrence.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292</TotalTime>
  <Words>1251</Words>
  <Application>Microsoft Office PowerPoint</Application>
  <PresentationFormat>Widescreen</PresentationFormat>
  <Paragraphs>132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Unicode MS</vt:lpstr>
      <vt:lpstr>Calibri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Shaurya Pundir</cp:lastModifiedBy>
  <cp:revision>6</cp:revision>
  <dcterms:created xsi:type="dcterms:W3CDTF">2024-12-31T09:40:01Z</dcterms:created>
  <dcterms:modified xsi:type="dcterms:W3CDTF">2025-08-03T02:52:54Z</dcterms:modified>
</cp:coreProperties>
</file>